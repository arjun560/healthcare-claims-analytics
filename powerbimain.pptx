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rjun Premji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Arjun Premji </a:t>
            </a:r>
          </a:p>
        </p:txBody>
      </p:sp>
      <p:sp>
        <p:nvSpPr>
          <p:cNvPr id="172" name="Executive Insights Dashboard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4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Executive Insights Dashboard</a:t>
            </a:r>
          </a:p>
        </p:txBody>
      </p:sp>
      <p:sp>
        <p:nvSpPr>
          <p:cNvPr id="173" name="Healthcare Claims Analytics: Where Is the Money Going?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121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Healthcare Claims Analytics: Where Is the Money Going?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Business Con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Business Context</a:t>
            </a:r>
          </a:p>
        </p:txBody>
      </p:sp>
      <p:sp>
        <p:nvSpPr>
          <p:cNvPr id="176" name="Health insurance companies process large volumes of claim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Health insurance companies process large volumes of claims.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Without analytics, it is difficult to identify cost drivers.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organization is currently experiencing financial losses.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Executives need visibility into where money is being spent.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he insurance company is losing money and does not have clear visibility into which claim types, procedures, diagnoses, or members are driving the highest costs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82880">
              <a:defRPr sz="4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The insurance company is losing money and does not have clear visibility into which claim types, procedures, diagnoses, or members are driving the highest costs.</a:t>
            </a:r>
          </a:p>
        </p:txBody>
      </p:sp>
      <p:sp>
        <p:nvSpPr>
          <p:cNvPr id="179" name="No centralized analytical view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Clr>
                <a:srgbClr val="FFFFFF"/>
              </a:buClr>
              <a:buSzPct val="100000"/>
              <a:buFont typeface="Times Roman"/>
              <a:buChar char="•"/>
              <a:defRPr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centralized analytical view</a:t>
            </a:r>
          </a:p>
          <a:p>
            <a:pPr marL="457200" indent="-317500" defTabSz="457200">
              <a:spcBef>
                <a:spcPts val="1200"/>
              </a:spcBef>
              <a:buClr>
                <a:srgbClr val="FFFFFF"/>
              </a:buClr>
              <a:buSzPct val="100000"/>
              <a:buFont typeface="Times Roman"/>
              <a:buChar char="•"/>
              <a:defRPr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Clr>
                <a:srgbClr val="FFFFFF"/>
              </a:buClr>
              <a:buSzPct val="100000"/>
              <a:buFont typeface="Times Roman"/>
              <a:buChar char="•"/>
              <a:defRPr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Difficult to detect cost leakage</a:t>
            </a:r>
          </a:p>
          <a:p>
            <a:pPr marL="457200" indent="-317500" defTabSz="457200">
              <a:spcBef>
                <a:spcPts val="1200"/>
              </a:spcBef>
              <a:buClr>
                <a:srgbClr val="FFFFFF"/>
              </a:buClr>
              <a:buSzPct val="100000"/>
              <a:buFont typeface="Times Roman"/>
              <a:buChar char="•"/>
              <a:defRPr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Clr>
                <a:srgbClr val="FFFFFF"/>
              </a:buClr>
              <a:buSzPct val="100000"/>
              <a:buFont typeface="Times Roman"/>
              <a:buChar char="•"/>
              <a:defRPr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Limited support for executive decision-making</a:t>
            </a:r>
          </a:p>
        </p:txBody>
      </p:sp>
      <p:sp>
        <p:nvSpPr>
          <p:cNvPr id="180" name="Problem Stat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Problem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roject Objec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Project Objective</a:t>
            </a:r>
          </a:p>
        </p:txBody>
      </p:sp>
      <p:sp>
        <p:nvSpPr>
          <p:cNvPr id="183" name="Analyze healthcare claims data to identify cost drivers.…"/>
          <p:cNvSpPr txBox="1"/>
          <p:nvPr>
            <p:ph type="body" idx="1"/>
          </p:nvPr>
        </p:nvSpPr>
        <p:spPr>
          <a:xfrm>
            <a:off x="1206500" y="4248504"/>
            <a:ext cx="19148495" cy="8256012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Analyze healthcare claims data to identify cost drivers.</a:t>
            </a:r>
          </a:p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Break down spending by: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Claim type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CPT and ICD codes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Members</a:t>
            </a:r>
          </a:p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Compare billed amounts with paid amounts.</a:t>
            </a:r>
          </a:p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 an executive-level interactive dashboard.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Dataset &amp; Tools U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10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Dataset &amp; Tools Used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88" name="Synthetic healthcare claims datase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Synthetic healthcare claims dataset</a:t>
            </a:r>
          </a:p>
          <a:p>
            <a:pPr marL="0" indent="0" defTabSz="457200">
              <a:spcBef>
                <a:spcPts val="1200"/>
              </a:spcBef>
              <a:buSzTx/>
              <a:buNone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Includes: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Claim types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CPT &amp; ICD codes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Billed and paid amounts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Member and provider details</a:t>
            </a:r>
          </a:p>
        </p:txBody>
      </p:sp>
      <p:pic>
        <p:nvPicPr>
          <p:cNvPr id="189" name="Screenshot 2026-02-03 at 9.39.50 PM.png" descr="Screenshot 2026-02-03 at 9.39.5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14709" y="2473"/>
            <a:ext cx="10125427" cy="66968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Screenshot 2026-02-03 at 9.40.00 PM.png" descr="Screenshot 2026-02-03 at 9.40.0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14709" y="6703680"/>
            <a:ext cx="10125427" cy="66968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ools"/>
          <p:cNvSpPr txBox="1"/>
          <p:nvPr>
            <p:ph type="title"/>
          </p:nvPr>
        </p:nvSpPr>
        <p:spPr>
          <a:xfrm>
            <a:off x="12167235" y="635355"/>
            <a:ext cx="9779001" cy="16891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193" name="Data preparation: Power BI (Power Query)…"/>
          <p:cNvSpPr txBox="1"/>
          <p:nvPr>
            <p:ph type="body" sz="half" idx="1"/>
          </p:nvPr>
        </p:nvSpPr>
        <p:spPr>
          <a:xfrm>
            <a:off x="11034661" y="4248504"/>
            <a:ext cx="12044150" cy="8256012"/>
          </a:xfrm>
          <a:prstGeom prst="rect">
            <a:avLst/>
          </a:prstGeom>
        </p:spPr>
        <p:txBody>
          <a:bodyPr/>
          <a:lstStyle/>
          <a:p>
            <a:pPr marL="571500" indent="-571500" defTabSz="457200">
              <a:spcBef>
                <a:spcPts val="1200"/>
              </a:spcBef>
              <a:defRPr b="1"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Data preparation: </a:t>
            </a:r>
            <a:r>
              <a:t>Power BI (Power Query)</a:t>
            </a:r>
          </a:p>
          <a:p>
            <a:pPr marL="571500" indent="-571500" defTabSz="457200">
              <a:spcBef>
                <a:spcPts val="1200"/>
              </a:spcBef>
              <a:defRPr b="1"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Analysis: </a:t>
            </a:r>
            <a:r>
              <a:rPr b="1"/>
              <a:t>Power BI</a:t>
            </a:r>
            <a:endParaRPr b="1"/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Visualization: </a:t>
            </a:r>
            <a:r>
              <a:rPr b="1"/>
              <a:t>Power BI</a:t>
            </a:r>
          </a:p>
        </p:txBody>
      </p:sp>
      <p:pic>
        <p:nvPicPr>
          <p:cNvPr id="194" name="images-2.png" descr="images-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3776" y="5164993"/>
            <a:ext cx="7900698" cy="3386014"/>
          </a:xfrm>
          <a:prstGeom prst="rect">
            <a:avLst/>
          </a:prstGeom>
          <a:ln w="25400">
            <a:miter lim="400000"/>
          </a:ln>
          <a:effectLst>
            <a:reflection blurRad="0" stA="73613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Dashboard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06908">
              <a:lnSpc>
                <a:spcPct val="100000"/>
              </a:lnSpc>
              <a:defRPr spc="0" sz="8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Dashboard Overview</a:t>
            </a:r>
          </a:p>
        </p:txBody>
      </p:sp>
      <p:sp>
        <p:nvSpPr>
          <p:cNvPr id="197" name="Provides a high-level financial summary for executives.…"/>
          <p:cNvSpPr txBox="1"/>
          <p:nvPr>
            <p:ph type="body" sz="half" idx="1"/>
          </p:nvPr>
        </p:nvSpPr>
        <p:spPr>
          <a:xfrm>
            <a:off x="1206500" y="4248504"/>
            <a:ext cx="11580851" cy="8256012"/>
          </a:xfrm>
          <a:prstGeom prst="rect">
            <a:avLst/>
          </a:prstGeom>
        </p:spPr>
        <p:txBody>
          <a:bodyPr/>
          <a:lstStyle/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Provides a high-level financial summary for executives.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Displays total claims, total billed amount, and total paid amount.</a:t>
            </a:r>
          </a:p>
        </p:txBody>
      </p:sp>
      <p:pic>
        <p:nvPicPr>
          <p:cNvPr id="198" name="Screenshot 2026-02-03 at 11.32.30 PM.png" descr="Screenshot 2026-02-03 at 11.32.3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82213" y="542223"/>
            <a:ext cx="10990420" cy="63439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Screenshot 2026-02-03 at 11.36.11 PM.png" descr="Screenshot 2026-02-03 at 11.36.11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82213" y="7057593"/>
            <a:ext cx="10990420" cy="63439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laim Type Cost Breakdow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97179">
              <a:lnSpc>
                <a:spcPct val="100000"/>
              </a:lnSpc>
              <a:defRPr spc="0" sz="6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Claim Type Cost Breakdown</a:t>
            </a:r>
          </a:p>
        </p:txBody>
      </p:sp>
      <p:sp>
        <p:nvSpPr>
          <p:cNvPr id="202" name="Inpatient claims contribute the highest total paid amount.…"/>
          <p:cNvSpPr txBox="1"/>
          <p:nvPr>
            <p:ph type="body" sz="half" idx="1"/>
          </p:nvPr>
        </p:nvSpPr>
        <p:spPr>
          <a:xfrm>
            <a:off x="1206499" y="3388386"/>
            <a:ext cx="10539532" cy="8256011"/>
          </a:xfrm>
          <a:prstGeom prst="rect">
            <a:avLst/>
          </a:prstGeom>
        </p:spPr>
        <p:txBody>
          <a:bodyPr/>
          <a:lstStyle/>
          <a:p>
            <a:pPr marL="651509" indent="-651509" defTabSz="260604">
              <a:spcBef>
                <a:spcPts val="600"/>
              </a:spcBef>
              <a:defRPr sz="5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contribute the highest total paid amount.</a:t>
            </a:r>
          </a:p>
          <a:p>
            <a:pPr marL="651509" indent="-651509" defTabSz="260604">
              <a:spcBef>
                <a:spcPts val="600"/>
              </a:spcBef>
              <a:defRPr sz="5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651509" indent="-651509" defTabSz="260604">
              <a:spcBef>
                <a:spcPts val="600"/>
              </a:spcBef>
              <a:defRPr sz="5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Emergency and outpatient claims have moderate cost impact.</a:t>
            </a:r>
          </a:p>
          <a:p>
            <a:pPr marL="651509" indent="-651509" defTabSz="260604">
              <a:spcBef>
                <a:spcPts val="600"/>
              </a:spcBef>
              <a:defRPr sz="5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651509" indent="-651509" defTabSz="260604">
              <a:spcBef>
                <a:spcPts val="600"/>
              </a:spcBef>
              <a:defRPr sz="5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Pharmacy and lab claims are lower-cost but higher-frequency.</a:t>
            </a:r>
          </a:p>
        </p:txBody>
      </p:sp>
      <p:pic>
        <p:nvPicPr>
          <p:cNvPr id="203" name="Screenshot 2026-02-03 at 11.52.00 PM.png" descr="Screenshot 2026-02-03 at 11.52.0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30927" y="2915317"/>
            <a:ext cx="12035559" cy="7885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rocedure and Diagnosis Cost Drivers"/>
          <p:cNvSpPr txBox="1"/>
          <p:nvPr>
            <p:ph type="title"/>
          </p:nvPr>
        </p:nvSpPr>
        <p:spPr>
          <a:xfrm>
            <a:off x="12086268" y="635355"/>
            <a:ext cx="11180655" cy="1689101"/>
          </a:xfrm>
          <a:prstGeom prst="rect">
            <a:avLst/>
          </a:prstGeom>
        </p:spPr>
        <p:txBody>
          <a:bodyPr/>
          <a:lstStyle>
            <a:lvl1pPr defTabSz="256031">
              <a:lnSpc>
                <a:spcPct val="100000"/>
              </a:lnSpc>
              <a:defRPr spc="0" sz="56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Procedure and Diagnosis Cost Drivers</a:t>
            </a:r>
          </a:p>
        </p:txBody>
      </p:sp>
      <p:sp>
        <p:nvSpPr>
          <p:cNvPr id="206" name="Inpatient claims contribute the highest total paid amount.…"/>
          <p:cNvSpPr txBox="1"/>
          <p:nvPr>
            <p:ph type="body" sz="half" idx="1"/>
          </p:nvPr>
        </p:nvSpPr>
        <p:spPr>
          <a:xfrm>
            <a:off x="12871415" y="3411900"/>
            <a:ext cx="10775773" cy="8256011"/>
          </a:xfrm>
          <a:prstGeom prst="rect">
            <a:avLst/>
          </a:prstGeom>
        </p:spPr>
        <p:txBody>
          <a:bodyPr/>
          <a:lstStyle/>
          <a:p>
            <a:pPr marL="1143000" indent="-11430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contribute the highest total paid amount.</a:t>
            </a:r>
          </a:p>
          <a:p>
            <a:pPr marL="1143000" indent="-11430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1143000" indent="-11430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Emergency and outpatient claims have moderate cost impact.</a:t>
            </a:r>
          </a:p>
          <a:p>
            <a:pPr marL="1143000" indent="-11430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1143000" indent="-11430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Pharmacy and lab claims are lower-cost but higher-frequency.</a:t>
            </a:r>
          </a:p>
        </p:txBody>
      </p:sp>
      <p:pic>
        <p:nvPicPr>
          <p:cNvPr id="207" name="Screenshot 2026-02-03 at 11.46.33 PM.png" descr="Screenshot 2026-02-03 at 11.46.3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5469" y="361260"/>
            <a:ext cx="9593029" cy="62850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Screenshot 2026-02-03 at 11.46.44 PM.png" descr="Screenshot 2026-02-03 at 11.46.44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1955" y="6911120"/>
            <a:ext cx="9593029" cy="6285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High-Cost Member Analysis"/>
          <p:cNvSpPr txBox="1"/>
          <p:nvPr>
            <p:ph type="title"/>
          </p:nvPr>
        </p:nvSpPr>
        <p:spPr>
          <a:xfrm>
            <a:off x="822218" y="635355"/>
            <a:ext cx="10539531" cy="1689101"/>
          </a:xfrm>
          <a:prstGeom prst="rect">
            <a:avLst/>
          </a:prstGeom>
        </p:spPr>
        <p:txBody>
          <a:bodyPr/>
          <a:lstStyle>
            <a:lvl1pPr defTabSz="324611">
              <a:lnSpc>
                <a:spcPct val="100000"/>
              </a:lnSpc>
              <a:spcBef>
                <a:spcPts val="800"/>
              </a:spcBef>
              <a:defRPr spc="0" sz="71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High-Cost Member Analysis</a:t>
            </a:r>
          </a:p>
        </p:txBody>
      </p:sp>
      <p:sp>
        <p:nvSpPr>
          <p:cNvPr id="211" name="Healthcare spending is concentrated among a small group of members.…"/>
          <p:cNvSpPr txBox="1"/>
          <p:nvPr>
            <p:ph type="body" sz="half" idx="1"/>
          </p:nvPr>
        </p:nvSpPr>
        <p:spPr>
          <a:xfrm>
            <a:off x="1206500" y="3388386"/>
            <a:ext cx="10539531" cy="8256011"/>
          </a:xfrm>
          <a:prstGeom prst="rect">
            <a:avLst/>
          </a:prstGeom>
        </p:spPr>
        <p:txBody>
          <a:bodyPr/>
          <a:lstStyle/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Healthcare spending is concentrated among a small group of members.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dominate spending for high-cost members.</a:t>
            </a:r>
          </a:p>
        </p:txBody>
      </p:sp>
      <p:pic>
        <p:nvPicPr>
          <p:cNvPr id="212" name="Screenshot 2026-02-03 at 11.50.24 PM.png" descr="Screenshot 2026-02-03 at 11.50.2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04701" y="3075872"/>
            <a:ext cx="11545442" cy="75642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Billed vs Paid Ratio"/>
          <p:cNvSpPr txBox="1"/>
          <p:nvPr>
            <p:ph type="title"/>
          </p:nvPr>
        </p:nvSpPr>
        <p:spPr>
          <a:xfrm>
            <a:off x="12818967" y="751777"/>
            <a:ext cx="11116910" cy="1456257"/>
          </a:xfrm>
          <a:prstGeom prst="rect">
            <a:avLst/>
          </a:prstGeom>
        </p:spPr>
        <p:txBody>
          <a:bodyPr/>
          <a:lstStyle>
            <a:lvl1pPr defTabSz="406908">
              <a:lnSpc>
                <a:spcPct val="100000"/>
              </a:lnSpc>
              <a:defRPr spc="0" sz="8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Billed vs Paid Ratio</a:t>
            </a:r>
          </a:p>
        </p:txBody>
      </p:sp>
      <p:sp>
        <p:nvSpPr>
          <p:cNvPr id="215" name="Paid Ratio = Paid Amount ÷ Billed Amount…"/>
          <p:cNvSpPr txBox="1"/>
          <p:nvPr>
            <p:ph type="body" sz="half" idx="1"/>
          </p:nvPr>
        </p:nvSpPr>
        <p:spPr>
          <a:xfrm>
            <a:off x="12871415" y="3411900"/>
            <a:ext cx="10775773" cy="8256012"/>
          </a:xfrm>
          <a:prstGeom prst="rect">
            <a:avLst/>
          </a:prstGeom>
        </p:spPr>
        <p:txBody>
          <a:bodyPr/>
          <a:lstStyle/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Paid Ratio = Paid Amount ÷ Billed Amount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Ratios vary across claim types and procedures.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Indicates negotiation efficiency and policy limits.</a:t>
            </a:r>
          </a:p>
        </p:txBody>
      </p:sp>
      <p:pic>
        <p:nvPicPr>
          <p:cNvPr id="216" name="Screenshot 2026-02-03 at 11.59.21 PM.png" descr="Screenshot 2026-02-03 at 11.59.2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7609" y="2636892"/>
            <a:ext cx="12080912" cy="79150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Business Con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Business Context</a:t>
            </a:r>
          </a:p>
        </p:txBody>
      </p:sp>
      <p:sp>
        <p:nvSpPr>
          <p:cNvPr id="219" name="Inpatient claims are the largest cost driver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are the largest cost drivers.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Few CPT and ICD codes dominate healthcare spending.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small number of members account for high payouts.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Paid ratios vary significantly across claim types.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KEY INSI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KEY INSIGHTS</a:t>
            </a:r>
          </a:p>
        </p:txBody>
      </p:sp>
      <p:sp>
        <p:nvSpPr>
          <p:cNvPr id="222" name="Inpatient claims are the largest contributors to total paid amou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are the </a:t>
            </a:r>
            <a:r>
              <a:rPr b="1"/>
              <a:t>largest contributors</a:t>
            </a:r>
            <a:r>
              <a:t> to total paid amounts.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small number of </a:t>
            </a:r>
            <a:r>
              <a:rPr b="1"/>
              <a:t>CPT and ICD codes</a:t>
            </a:r>
            <a:r>
              <a:t> drive a significant portion of healthcare spending.</a:t>
            </a:r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71500" indent="-571500" defTabSz="457200">
              <a:spcBef>
                <a:spcPts val="1200"/>
              </a:spcBef>
              <a:defRPr b="1"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Healthcare costs are </a:t>
            </a:r>
            <a:r>
              <a:t>concentrated among a limited number of members</a:t>
            </a:r>
            <a:r>
              <a:rPr b="0"/>
              <a:t>.</a:t>
            </a:r>
            <a:endParaRPr b="0"/>
          </a:p>
          <a:p>
            <a:pPr marL="571500" indent="-571500" defTabSz="457200">
              <a:spcBef>
                <a:spcPts val="1200"/>
              </a:spcBef>
              <a:defRPr b="1"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571500" indent="-571500" defTabSz="457200">
              <a:spcBef>
                <a:spcPts val="1200"/>
              </a:spcBef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Paid ratios vary across claim types, indicating differences in </a:t>
            </a:r>
            <a:r>
              <a:rPr b="1"/>
              <a:t>payment efficiency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ONCLUSION &amp; BUSINESS IMPA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10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CONCLUSION &amp; BUSINESS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28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KEY INSIGHTS &amp; 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KEY INSIGHTS &amp; CONCLUSION</a:t>
            </a:r>
          </a:p>
        </p:txBody>
      </p:sp>
      <p:sp>
        <p:nvSpPr>
          <p:cNvPr id="227" name="Inpatient claims are the largest cost driver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Inpatient claims are the largest cost drivers.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Few CPT and ICD codes dominate total spending.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small number of members account for high payouts.</a:t>
            </a: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indent="-317500" defTabSz="457200">
              <a:spcBef>
                <a:spcPts val="1200"/>
              </a:spcBef>
              <a:buClr>
                <a:srgbClr val="FFFFFF"/>
              </a:buClr>
              <a:buFont typeface="Times Roman"/>
              <a:defRPr sz="50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Paid ratios vary significantly across claim types.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